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6" r:id="rId1"/>
  </p:sldMasterIdLst>
  <p:notesMasterIdLst>
    <p:notesMasterId r:id="rId43"/>
  </p:notesMasterIdLst>
  <p:handoutMasterIdLst>
    <p:handoutMasterId r:id="rId44"/>
  </p:handoutMasterIdLst>
  <p:sldIdLst>
    <p:sldId id="419" r:id="rId2"/>
    <p:sldId id="370" r:id="rId3"/>
    <p:sldId id="375" r:id="rId4"/>
    <p:sldId id="372" r:id="rId5"/>
    <p:sldId id="374" r:id="rId6"/>
    <p:sldId id="376" r:id="rId7"/>
    <p:sldId id="410" r:id="rId8"/>
    <p:sldId id="378" r:id="rId9"/>
    <p:sldId id="420" r:id="rId10"/>
    <p:sldId id="379" r:id="rId11"/>
    <p:sldId id="403" r:id="rId12"/>
    <p:sldId id="402" r:id="rId13"/>
    <p:sldId id="401" r:id="rId14"/>
    <p:sldId id="380" r:id="rId15"/>
    <p:sldId id="383" r:id="rId16"/>
    <p:sldId id="381" r:id="rId17"/>
    <p:sldId id="421" r:id="rId18"/>
    <p:sldId id="382" r:id="rId19"/>
    <p:sldId id="413" r:id="rId20"/>
    <p:sldId id="388" r:id="rId21"/>
    <p:sldId id="391" r:id="rId22"/>
    <p:sldId id="392" r:id="rId23"/>
    <p:sldId id="390" r:id="rId24"/>
    <p:sldId id="423" r:id="rId25"/>
    <p:sldId id="422" r:id="rId26"/>
    <p:sldId id="412" r:id="rId27"/>
    <p:sldId id="395" r:id="rId28"/>
    <p:sldId id="396" r:id="rId29"/>
    <p:sldId id="397" r:id="rId30"/>
    <p:sldId id="399" r:id="rId31"/>
    <p:sldId id="398" r:id="rId32"/>
    <p:sldId id="424" r:id="rId33"/>
    <p:sldId id="400" r:id="rId34"/>
    <p:sldId id="404" r:id="rId35"/>
    <p:sldId id="414" r:id="rId36"/>
    <p:sldId id="386" r:id="rId37"/>
    <p:sldId id="405" r:id="rId38"/>
    <p:sldId id="415" r:id="rId39"/>
    <p:sldId id="416" r:id="rId40"/>
    <p:sldId id="417" r:id="rId41"/>
    <p:sldId id="418" r:id="rId4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5"/>
      <p:bold r:id="rId46"/>
      <p:italic r:id="rId47"/>
      <p:boldItalic r:id="rId48"/>
    </p:embeddedFont>
    <p:embeddedFont>
      <p:font typeface="Roboto Regular" panose="020B0604020202020204" charset="0"/>
      <p:regular r:id="rId49"/>
    </p:embeddedFont>
  </p:embeddedFontLst>
  <p:custDataLst>
    <p:tags r:id="rId50"/>
  </p:custDataLst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968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1B44"/>
    <a:srgbClr val="D826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1166" autoAdjust="0"/>
  </p:normalViewPr>
  <p:slideViewPr>
    <p:cSldViewPr snapToGrid="0" showGuides="1">
      <p:cViewPr>
        <p:scale>
          <a:sx n="100" d="100"/>
          <a:sy n="100" d="100"/>
        </p:scale>
        <p:origin x="1238" y="58"/>
      </p:cViewPr>
      <p:guideLst>
        <p:guide pos="4968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Roboto Regular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Roboto Regular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7C797-B46E-934E-A9B5-FF65575F53E4}" type="slidenum">
              <a:rPr lang="en-US" smtClean="0">
                <a:latin typeface="Roboto Regular" charset="0"/>
              </a:rPr>
              <a:t>‹#›</a:t>
            </a:fld>
            <a:endParaRPr lang="en-US" dirty="0">
              <a:latin typeface="Robot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68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oboto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oboto Regular" charset="0"/>
              </a:defRPr>
            </a:lvl1pPr>
          </a:lstStyle>
          <a:p>
            <a:fld id="{66AC886D-0E04-4D32-8700-6F538542D766}" type="datetimeFigureOut">
              <a:rPr lang="en-US" smtClean="0"/>
              <a:pPr/>
              <a:t>28-Apr-22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oboto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oboto Regular" charset="0"/>
              </a:defRPr>
            </a:lvl1pPr>
          </a:lstStyle>
          <a:p>
            <a:fld id="{276E01C0-9FAF-4E87-9670-5EE0D47B33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3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b="0" i="0" kern="1200">
        <a:solidFill>
          <a:schemeClr val="tx1"/>
        </a:solidFill>
        <a:latin typeface="Roboto Regular" charset="0"/>
        <a:ea typeface="+mn-ea"/>
        <a:cs typeface="+mn-cs"/>
      </a:defRPr>
    </a:lvl1pPr>
    <a:lvl2pPr marL="342892" algn="l" defTabSz="685783" rtl="0" eaLnBrk="1" latinLnBrk="0" hangingPunct="1">
      <a:defRPr sz="900" b="0" i="0" kern="1200">
        <a:solidFill>
          <a:schemeClr val="tx1"/>
        </a:solidFill>
        <a:latin typeface="Roboto Regular" charset="0"/>
        <a:ea typeface="+mn-ea"/>
        <a:cs typeface="+mn-cs"/>
      </a:defRPr>
    </a:lvl2pPr>
    <a:lvl3pPr marL="685783" algn="l" defTabSz="685783" rtl="0" eaLnBrk="1" latinLnBrk="0" hangingPunct="1">
      <a:defRPr sz="900" b="0" i="0" kern="1200">
        <a:solidFill>
          <a:schemeClr val="tx1"/>
        </a:solidFill>
        <a:latin typeface="Roboto Regular" charset="0"/>
        <a:ea typeface="+mn-ea"/>
        <a:cs typeface="+mn-cs"/>
      </a:defRPr>
    </a:lvl3pPr>
    <a:lvl4pPr marL="1028675" algn="l" defTabSz="685783" rtl="0" eaLnBrk="1" latinLnBrk="0" hangingPunct="1">
      <a:defRPr sz="900" b="0" i="0" kern="1200">
        <a:solidFill>
          <a:schemeClr val="tx1"/>
        </a:solidFill>
        <a:latin typeface="Roboto Regular" charset="0"/>
        <a:ea typeface="+mn-ea"/>
        <a:cs typeface="+mn-cs"/>
      </a:defRPr>
    </a:lvl4pPr>
    <a:lvl5pPr marL="1371566" algn="l" defTabSz="685783" rtl="0" eaLnBrk="1" latinLnBrk="0" hangingPunct="1">
      <a:defRPr sz="900" b="0" i="0" kern="1200">
        <a:solidFill>
          <a:schemeClr val="tx1"/>
        </a:solidFill>
        <a:latin typeface="Roboto Regular" charset="0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304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508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34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helloworld.bsh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extcom.bsh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echo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411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quiz1</a:t>
            </a:r>
          </a:p>
          <a:p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comm_kumbaya.bsh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240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89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37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62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variable.bsh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+ CLI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35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numbers.bsh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82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strings.bsh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46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sourcing.bsh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CLI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4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comsub.bsh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heredoc.bsh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29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arguments.bsh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4923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quiz2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15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proc_file.bsh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760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7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exttools.bsh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56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exttools.bsh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84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exttools.bsh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15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exttools.bsh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46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quiz3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1717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hack_in.bsh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20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6915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432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iffiledir.bsh</a:t>
            </a:r>
            <a:endParaRPr lang="en-US" dirty="0"/>
          </a:p>
          <a:p>
            <a:r>
              <a:rPr lang="en-US" dirty="0" err="1"/>
              <a:t>ifstr_while_for.bsh</a:t>
            </a:r>
            <a:r>
              <a:rPr lang="en-US" dirty="0"/>
              <a:t> (after for and while)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2218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6419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while_break_cont.bsh</a:t>
            </a:r>
            <a:endParaRPr lang="en-US" dirty="0"/>
          </a:p>
          <a:p>
            <a:r>
              <a:rPr lang="en-US" dirty="0" err="1"/>
              <a:t>ifstr_while_for.bsh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484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selcase.bsh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032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quiz4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283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guess_the_number.bsh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9474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end_of_course.bsh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74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016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E01C0-9FAF-4E87-9670-5EE0D47B333C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0847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functions.bsh</a:t>
            </a:r>
            <a:r>
              <a:rPr lang="en-US" dirty="0"/>
              <a:t> </a:t>
            </a:r>
            <a:r>
              <a:rPr lang="en-US"/>
              <a:t>+ .bashrc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2435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options.bsh</a:t>
            </a:r>
            <a:endParaRPr lang="en-US" dirty="0"/>
          </a:p>
          <a:p>
            <a:r>
              <a:rPr lang="en-US"/>
              <a:t>traps.bsh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170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0168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debug_set.bsh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6E01C0-9FAF-4E87-9670-5EE0D47B3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charset="0"/>
                <a:ea typeface="+mn-ea"/>
                <a:cs typeface="+mn-cs"/>
              </a:rPr>
              <a:pPr marL="0" marR="0" lvl="0" indent="0" algn="r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55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8194" y="1255537"/>
            <a:ext cx="4923331" cy="92095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194" y="2301908"/>
            <a:ext cx="2608729" cy="100413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>
          <a:xfrm>
            <a:off x="7305452" y="4780122"/>
            <a:ext cx="1552799" cy="273844"/>
          </a:xfrm>
          <a:prstGeom prst="rect">
            <a:avLst/>
          </a:prstGeom>
        </p:spPr>
        <p:txBody>
          <a:bodyPr/>
          <a:lstStyle>
            <a:lvl1pPr algn="l">
              <a:defRPr sz="1050" b="0" i="0">
                <a:solidFill>
                  <a:schemeClr val="bg1"/>
                </a:solidFill>
                <a:latin typeface="Roboto Regular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743" y="4780123"/>
            <a:ext cx="243710" cy="25233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743" y="4780123"/>
            <a:ext cx="243710" cy="252337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4287520" y="122936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68194" y="4027920"/>
            <a:ext cx="2509917" cy="65331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hashtag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>
        <p:tmplLst>
          <p:tmpl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8196" y="1265603"/>
            <a:ext cx="5348930" cy="92095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196" y="2199549"/>
            <a:ext cx="4308735" cy="100413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1"/>
          </p:nvPr>
        </p:nvSpPr>
        <p:spPr>
          <a:xfrm>
            <a:off x="7305452" y="4780122"/>
            <a:ext cx="1552799" cy="273844"/>
          </a:xfrm>
          <a:prstGeom prst="rect">
            <a:avLst/>
          </a:prstGeom>
        </p:spPr>
        <p:txBody>
          <a:bodyPr/>
          <a:lstStyle>
            <a:lvl1pPr algn="l">
              <a:defRPr sz="1050" b="0" i="0">
                <a:solidFill>
                  <a:schemeClr val="bg1"/>
                </a:solidFill>
                <a:latin typeface="Roboto Regular" charset="0"/>
              </a:defRPr>
            </a:lvl1pPr>
          </a:lstStyle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743" y="4780123"/>
            <a:ext cx="243710" cy="252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743" y="4780123"/>
            <a:ext cx="243710" cy="252337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82588" y="4031598"/>
            <a:ext cx="1889125" cy="4953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add hashtag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>
        <p:tmplLst>
          <p:tmpl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_White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5915026" y="3054909"/>
            <a:ext cx="2943225" cy="830799"/>
          </a:xfrm>
        </p:spPr>
        <p:txBody>
          <a:bodyPr anchor="b">
            <a:noAutofit/>
          </a:bodyPr>
          <a:lstStyle>
            <a:lvl1pPr algn="l">
              <a:defRPr sz="3000" b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divider title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5026" y="3881904"/>
            <a:ext cx="2940798" cy="422201"/>
          </a:xfr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chemeClr val="accent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5750" y="259560"/>
            <a:ext cx="7334250" cy="57655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1" y="1278388"/>
            <a:ext cx="1943100" cy="3322187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table title</a:t>
            </a:r>
          </a:p>
        </p:txBody>
      </p:sp>
      <p:sp>
        <p:nvSpPr>
          <p:cNvPr id="11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4" hasCustomPrompt="1"/>
          </p:nvPr>
        </p:nvSpPr>
        <p:spPr>
          <a:xfrm>
            <a:off x="2486025" y="1273517"/>
            <a:ext cx="6372225" cy="332705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table icon to customize table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5750" y="257175"/>
            <a:ext cx="6343650" cy="499222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9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8801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solidFill>
                  <a:schemeClr val="bg1"/>
                </a:solidFill>
                <a:latin typeface="Roboto"/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  <a:latin typeface="Roboto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74" y="4554708"/>
            <a:ext cx="1027395" cy="459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_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5751" y="259559"/>
            <a:ext cx="7134225" cy="547266"/>
          </a:xfrm>
          <a:ln>
            <a:solidFill>
              <a:schemeClr val="bg1"/>
            </a:solidFill>
          </a:ln>
        </p:spPr>
        <p:txBody>
          <a:bodyPr anchor="t"/>
          <a:lstStyle>
            <a:lvl1pPr>
              <a:defRPr b="1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  <a:lvl2pPr marL="342891" indent="0">
              <a:buNone/>
              <a:defRPr/>
            </a:lvl2pPr>
            <a:lvl3pPr marL="685782" indent="0">
              <a:buNone/>
              <a:defRPr/>
            </a:lvl3pPr>
            <a:lvl4pPr marL="1028674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2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_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hlinkClick r:id="" action="ppaction://noaction"/>
          </p:cNvPr>
          <p:cNvSpPr/>
          <p:nvPr/>
        </p:nvSpPr>
        <p:spPr>
          <a:xfrm>
            <a:off x="4368167" y="2847857"/>
            <a:ext cx="407669" cy="407669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 dirty="0">
              <a:latin typeface="Roboto Regular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4572002" y="3268981"/>
            <a:ext cx="1" cy="265649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latin typeface="Roboto"/>
              </a:rPr>
              <a:t>© 2018 </a:t>
            </a:r>
            <a:r>
              <a:rPr lang="en-US" dirty="0" err="1">
                <a:latin typeface="Roboto"/>
              </a:rPr>
              <a:t>Axway</a:t>
            </a:r>
            <a:r>
              <a:rPr lang="en-US" dirty="0">
                <a:latin typeface="Roboto"/>
              </a:rPr>
              <a:t>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4868" y="4773623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solidFill>
                  <a:schemeClr val="bg1"/>
                </a:solidFill>
                <a:latin typeface="Roboto"/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6" name="Oval 5">
            <a:hlinkClick r:id="" action="ppaction://noaction"/>
          </p:cNvPr>
          <p:cNvSpPr/>
          <p:nvPr userDrawn="1"/>
        </p:nvSpPr>
        <p:spPr>
          <a:xfrm>
            <a:off x="4368167" y="2847857"/>
            <a:ext cx="407669" cy="407669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 dirty="0">
              <a:latin typeface="Roboto Regular" charset="0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 flipH="1" flipV="1">
            <a:off x="4572002" y="3268981"/>
            <a:ext cx="1" cy="265649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74" y="4554708"/>
            <a:ext cx="1027395" cy="459699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0" y="414571"/>
            <a:ext cx="9144000" cy="49982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1177247" y="2233614"/>
            <a:ext cx="2158064" cy="367180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5" name="Content Placeholder 7"/>
          <p:cNvSpPr>
            <a:spLocks noGrp="1"/>
          </p:cNvSpPr>
          <p:nvPr>
            <p:ph sz="quarter" idx="12" hasCustomPrompt="1"/>
          </p:nvPr>
        </p:nvSpPr>
        <p:spPr>
          <a:xfrm>
            <a:off x="1177247" y="2608369"/>
            <a:ext cx="2158064" cy="1296571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bullet list</a:t>
            </a:r>
          </a:p>
        </p:txBody>
      </p:sp>
      <p:sp>
        <p:nvSpPr>
          <p:cNvPr id="1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109010" y="2233614"/>
            <a:ext cx="2158064" cy="367180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8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6109010" y="2608369"/>
            <a:ext cx="2158064" cy="1296571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bullet list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1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_Midd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>
            <a:endCxn id="12" idx="4"/>
          </p:cNvCxnSpPr>
          <p:nvPr/>
        </p:nvCxnSpPr>
        <p:spPr>
          <a:xfrm flipH="1" flipV="1">
            <a:off x="4572001" y="2894647"/>
            <a:ext cx="2" cy="224885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stCxn id="12" idx="0"/>
          </p:cNvCxnSpPr>
          <p:nvPr/>
        </p:nvCxnSpPr>
        <p:spPr>
          <a:xfrm flipV="1">
            <a:off x="4572001" y="2"/>
            <a:ext cx="1" cy="248697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Oval 11">
            <a:hlinkClick r:id="" action="ppaction://noaction"/>
          </p:cNvPr>
          <p:cNvSpPr/>
          <p:nvPr/>
        </p:nvSpPr>
        <p:spPr>
          <a:xfrm>
            <a:off x="4368167" y="2486979"/>
            <a:ext cx="407669" cy="407669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 dirty="0">
              <a:latin typeface="Roboto Regular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latin typeface="Roboto"/>
              </a:rPr>
              <a:t>© 2018 </a:t>
            </a:r>
            <a:r>
              <a:rPr lang="en-US" dirty="0" err="1">
                <a:latin typeface="Roboto"/>
              </a:rPr>
              <a:t>Axway</a:t>
            </a:r>
            <a:r>
              <a:rPr lang="en-US" dirty="0">
                <a:latin typeface="Roboto"/>
              </a:rPr>
              <a:t>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77277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solidFill>
                  <a:schemeClr val="bg1"/>
                </a:solidFill>
                <a:latin typeface="Roboto"/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  <a:latin typeface="Roboto"/>
            </a:endParaRPr>
          </a:p>
        </p:txBody>
      </p:sp>
      <p:cxnSp>
        <p:nvCxnSpPr>
          <p:cNvPr id="7" name="Straight Connector 6"/>
          <p:cNvCxnSpPr>
            <a:endCxn id="12" idx="4"/>
          </p:cNvCxnSpPr>
          <p:nvPr userDrawn="1"/>
        </p:nvCxnSpPr>
        <p:spPr>
          <a:xfrm flipH="1" flipV="1">
            <a:off x="4572001" y="2894647"/>
            <a:ext cx="2" cy="224885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/>
          <p:cNvCxnSpPr>
            <a:stCxn id="12" idx="0"/>
          </p:cNvCxnSpPr>
          <p:nvPr userDrawn="1"/>
        </p:nvCxnSpPr>
        <p:spPr>
          <a:xfrm flipV="1">
            <a:off x="4572001" y="2"/>
            <a:ext cx="1" cy="248697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Oval 8">
            <a:hlinkClick r:id="" action="ppaction://noaction"/>
          </p:cNvPr>
          <p:cNvSpPr/>
          <p:nvPr userDrawn="1"/>
        </p:nvSpPr>
        <p:spPr>
          <a:xfrm>
            <a:off x="4368167" y="2486979"/>
            <a:ext cx="407669" cy="407669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 dirty="0">
              <a:latin typeface="Roboto Regular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74" y="4554708"/>
            <a:ext cx="1027395" cy="459699"/>
          </a:xfrm>
          <a:prstGeom prst="rect">
            <a:avLst/>
          </a:prstGeom>
        </p:spPr>
      </p:pic>
      <p:sp>
        <p:nvSpPr>
          <p:cNvPr id="1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1177247" y="2233614"/>
            <a:ext cx="2158064" cy="367180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0" name="Content Placeholder 7"/>
          <p:cNvSpPr>
            <a:spLocks noGrp="1"/>
          </p:cNvSpPr>
          <p:nvPr>
            <p:ph sz="quarter" idx="12" hasCustomPrompt="1"/>
          </p:nvPr>
        </p:nvSpPr>
        <p:spPr>
          <a:xfrm>
            <a:off x="1177247" y="2608369"/>
            <a:ext cx="2158064" cy="1296571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bullet list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109010" y="2233614"/>
            <a:ext cx="2158064" cy="367180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2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6109010" y="2608369"/>
            <a:ext cx="2158064" cy="1296571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bullet list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>
        <p:tmplLst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_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>
            <a:stCxn id="11" idx="0"/>
          </p:cNvCxnSpPr>
          <p:nvPr/>
        </p:nvCxnSpPr>
        <p:spPr>
          <a:xfrm flipV="1">
            <a:off x="4572001" y="-342900"/>
            <a:ext cx="1" cy="2829878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Oval 10">
            <a:hlinkClick r:id="" action="ppaction://noaction"/>
          </p:cNvPr>
          <p:cNvSpPr/>
          <p:nvPr/>
        </p:nvSpPr>
        <p:spPr>
          <a:xfrm>
            <a:off x="4368167" y="2486979"/>
            <a:ext cx="407669" cy="407669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 dirty="0">
              <a:latin typeface="Roboto Regular" charset="0"/>
            </a:endParaRPr>
          </a:p>
        </p:txBody>
      </p:sp>
      <p:sp>
        <p:nvSpPr>
          <p:cNvPr id="13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cxnSp>
        <p:nvCxnSpPr>
          <p:cNvPr id="7" name="Straight Connector 6"/>
          <p:cNvCxnSpPr>
            <a:stCxn id="11" idx="0"/>
          </p:cNvCxnSpPr>
          <p:nvPr userDrawn="1"/>
        </p:nvCxnSpPr>
        <p:spPr>
          <a:xfrm flipV="1">
            <a:off x="4572001" y="-342900"/>
            <a:ext cx="1" cy="2829878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Oval 7">
            <a:hlinkClick r:id="" action="ppaction://noaction"/>
          </p:cNvPr>
          <p:cNvSpPr/>
          <p:nvPr userDrawn="1"/>
        </p:nvSpPr>
        <p:spPr>
          <a:xfrm>
            <a:off x="4368167" y="2486979"/>
            <a:ext cx="407669" cy="407669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 dirty="0">
              <a:latin typeface="Roboto Regular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677277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solidFill>
                  <a:schemeClr val="bg1"/>
                </a:solidFill>
                <a:latin typeface="Roboto"/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  <a:latin typeface="Roboto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74" y="4554708"/>
            <a:ext cx="1027395" cy="459699"/>
          </a:xfrm>
          <a:prstGeom prst="rect">
            <a:avLst/>
          </a:prstGeom>
        </p:spPr>
      </p:pic>
      <p:sp>
        <p:nvSpPr>
          <p:cNvPr id="20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1177247" y="2233614"/>
            <a:ext cx="2158064" cy="367180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12" hasCustomPrompt="1"/>
          </p:nvPr>
        </p:nvSpPr>
        <p:spPr>
          <a:xfrm>
            <a:off x="1177247" y="2608369"/>
            <a:ext cx="2158064" cy="1296571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bullet list</a:t>
            </a:r>
          </a:p>
        </p:txBody>
      </p:sp>
      <p:sp>
        <p:nvSpPr>
          <p:cNvPr id="22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109010" y="2233614"/>
            <a:ext cx="2158064" cy="367180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3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6109010" y="2608369"/>
            <a:ext cx="2158064" cy="1296571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bullet list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5750" y="259560"/>
            <a:ext cx="7277100" cy="57655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5750" y="1209676"/>
            <a:ext cx="8572500" cy="3390901"/>
          </a:xfrm>
        </p:spPr>
        <p:txBody>
          <a:bodyPr/>
          <a:lstStyle>
            <a:lvl1pPr marL="0" indent="0">
              <a:buNone/>
              <a:defRPr/>
            </a:lvl1pPr>
            <a:lvl2pPr marL="342891" indent="0">
              <a:buNone/>
              <a:defRPr/>
            </a:lvl2pPr>
            <a:lvl3pPr marL="685782" indent="0">
              <a:buNone/>
              <a:defRPr/>
            </a:lvl3pPr>
            <a:lvl4pPr marL="1028674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0" y="896078"/>
            <a:ext cx="8572500" cy="373558"/>
          </a:xfrm>
        </p:spPr>
        <p:txBody>
          <a:bodyPr>
            <a:normAutofit/>
          </a:bodyPr>
          <a:lstStyle>
            <a:lvl1pPr marL="0" indent="0">
              <a:buNone/>
              <a:defRPr lang="en-US" sz="1800" b="1" i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4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5750" y="257176"/>
            <a:ext cx="7105650" cy="57655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5751" y="833735"/>
            <a:ext cx="4143375" cy="376684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6300" y="833735"/>
            <a:ext cx="4171950" cy="376684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5751" y="983634"/>
            <a:ext cx="4143375" cy="350491"/>
          </a:xfrm>
        </p:spPr>
        <p:txBody>
          <a:bodyPr anchor="t">
            <a:normAutofit/>
          </a:bodyPr>
          <a:lstStyle>
            <a:lvl1pPr marL="0" indent="0">
              <a:buNone/>
              <a:defRPr sz="1800" b="1" i="0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5751" y="1330524"/>
            <a:ext cx="4143375" cy="327005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6300" y="983634"/>
            <a:ext cx="4171950" cy="350491"/>
          </a:xfrm>
        </p:spPr>
        <p:txBody>
          <a:bodyPr anchor="t">
            <a:normAutofit/>
          </a:bodyPr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6302" y="1330523"/>
            <a:ext cx="4171949" cy="327005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content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85750" y="257176"/>
            <a:ext cx="7258050" cy="57655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17" name="Footer Placeholder 15"/>
          <p:cNvSpPr>
            <a:spLocks noGrp="1"/>
          </p:cNvSpPr>
          <p:nvPr>
            <p:ph type="ftr" sz="quarter" idx="10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lumn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28976" y="1410850"/>
            <a:ext cx="2686050" cy="320509"/>
          </a:xfrm>
        </p:spPr>
        <p:txBody>
          <a:bodyPr anchor="t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28975" y="1779551"/>
            <a:ext cx="2686050" cy="327822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410850"/>
            <a:ext cx="2686050" cy="328005"/>
          </a:xfrm>
        </p:spPr>
        <p:txBody>
          <a:bodyPr anchor="t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1786529"/>
            <a:ext cx="2686050" cy="3271243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85751" y="257176"/>
            <a:ext cx="7449671" cy="57655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285751" y="1410851"/>
            <a:ext cx="2686049" cy="328004"/>
          </a:xfrm>
        </p:spPr>
        <p:txBody>
          <a:bodyPr anchor="t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285751" y="1786529"/>
            <a:ext cx="2689797" cy="3271243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0" name="Footer Placeholder 15"/>
          <p:cNvSpPr>
            <a:spLocks noGrp="1"/>
          </p:cNvSpPr>
          <p:nvPr>
            <p:ph type="ftr" sz="quarter" idx="15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  <p15:guide id="2" pos="71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lumn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91015" y="987595"/>
            <a:ext cx="1938110" cy="34653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491015" y="1351983"/>
            <a:ext cx="1938110" cy="319339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6300" y="987595"/>
            <a:ext cx="1943101" cy="34653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91290" y="1347220"/>
            <a:ext cx="1938111" cy="319339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85751" y="257176"/>
            <a:ext cx="7267575" cy="57655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285750" y="987595"/>
            <a:ext cx="1943100" cy="34653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285751" y="1351983"/>
            <a:ext cx="1943100" cy="319339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901544" y="987595"/>
            <a:ext cx="1956707" cy="34653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1">
                <a:solidFill>
                  <a:schemeClr val="accent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add content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6886576" y="1347220"/>
            <a:ext cx="1971675" cy="319339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0" name="Footer Placeholder 15"/>
          <p:cNvSpPr>
            <a:spLocks noGrp="1"/>
          </p:cNvSpPr>
          <p:nvPr>
            <p:ph type="ftr" sz="quarter" idx="17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  <p15:guide id="2" orient="horz" pos="33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Full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7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1" y="4567255"/>
            <a:ext cx="975766" cy="436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8689" y="808162"/>
            <a:ext cx="6105525" cy="162782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10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5000"/>
          <a:stretch/>
        </p:blipFill>
        <p:spPr>
          <a:xfrm>
            <a:off x="2486026" y="2314575"/>
            <a:ext cx="4981598" cy="2828925"/>
          </a:xfrm>
          <a:prstGeom prst="rect">
            <a:avLst/>
          </a:prstGeom>
        </p:spPr>
      </p:pic>
      <p:sp>
        <p:nvSpPr>
          <p:cNvPr id="9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74" y="4554708"/>
            <a:ext cx="1027395" cy="45969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677277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solidFill>
                  <a:schemeClr val="bg1"/>
                </a:solidFill>
                <a:latin typeface="Roboto"/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  <a:latin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1668557"/>
            <a:ext cx="9144000" cy="918863"/>
          </a:xfrm>
        </p:spPr>
        <p:txBody>
          <a:bodyPr anchor="t">
            <a:noAutofit/>
          </a:bodyPr>
          <a:lstStyle>
            <a:lvl1pPr algn="ctr">
              <a:defRPr sz="10000" b="1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677898" y="4772834"/>
            <a:ext cx="37147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4A48367D-02F4-D54D-B033-A4AA430CFB02}" type="slidenum">
              <a:rPr lang="en-US" sz="900" smtClean="0">
                <a:latin typeface="+mj-lt"/>
              </a:rPr>
              <a:pPr algn="ctr"/>
              <a:t>‹#›</a:t>
            </a:fld>
            <a:endParaRPr lang="en-US" sz="9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5751" y="257176"/>
            <a:ext cx="7540439" cy="549649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750" y="806825"/>
            <a:ext cx="8572500" cy="379375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869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3" r:id="rId15"/>
    <p:sldLayoutId id="2147483734" r:id="rId16"/>
    <p:sldLayoutId id="2147483732" r:id="rId17"/>
    <p:sldLayoutId id="2147483735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+mj-lt"/>
          <a:ea typeface="Roboto"/>
          <a:cs typeface="Roboto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1872">
          <p15:clr>
            <a:srgbClr val="F26B43"/>
          </p15:clr>
        </p15:guide>
        <p15:guide id="6" pos="3720">
          <p15:clr>
            <a:srgbClr val="F26B43"/>
          </p15:clr>
        </p15:guide>
        <p15:guide id="13" pos="2472">
          <p15:clr>
            <a:srgbClr val="F26B43"/>
          </p15:clr>
        </p15:guide>
        <p15:guide id="19" pos="180">
          <p15:clr>
            <a:srgbClr val="F26B43"/>
          </p15:clr>
        </p15:guide>
        <p15:guide id="20" orient="horz" pos="348">
          <p15:clr>
            <a:srgbClr val="F26B43"/>
          </p15:clr>
        </p15:guide>
        <p15:guide id="21" pos="5580">
          <p15:clr>
            <a:srgbClr val="F26B43"/>
          </p15:clr>
        </p15:guide>
        <p15:guide id="22" orient="horz" pos="162">
          <p15:clr>
            <a:srgbClr val="F26B43"/>
          </p15:clr>
        </p15:guide>
        <p15:guide id="23" pos="1404">
          <p15:clr>
            <a:srgbClr val="F26B43"/>
          </p15:clr>
        </p15:guide>
        <p15:guide id="24" pos="2790">
          <p15:clr>
            <a:srgbClr val="F26B43"/>
          </p15:clr>
        </p15:guide>
        <p15:guide id="25" pos="4176">
          <p15:clr>
            <a:srgbClr val="F26B43"/>
          </p15:clr>
        </p15:guide>
        <p15:guide id="26" pos="1566">
          <p15:clr>
            <a:srgbClr val="F26B43"/>
          </p15:clr>
        </p15:guide>
        <p15:guide id="27" pos="2952">
          <p15:clr>
            <a:srgbClr val="F26B43"/>
          </p15:clr>
        </p15:guide>
        <p15:guide id="28" pos="4344" userDrawn="1">
          <p15:clr>
            <a:srgbClr val="F26B43"/>
          </p15:clr>
        </p15:guide>
        <p15:guide id="29" orient="horz" pos="1695">
          <p15:clr>
            <a:srgbClr val="F26B43"/>
          </p15:clr>
        </p15:guide>
        <p15:guide id="30" orient="horz" pos="3084">
          <p15:clr>
            <a:srgbClr val="F26B43"/>
          </p15:clr>
        </p15:guide>
        <p15:guide id="32" pos="2034">
          <p15:clr>
            <a:srgbClr val="F26B43"/>
          </p15:clr>
        </p15:guide>
        <p15:guide id="34" pos="3888">
          <p15:clr>
            <a:srgbClr val="F26B43"/>
          </p15:clr>
        </p15:guide>
        <p15:guide id="36" orient="horz" pos="289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fo.org/path_env_var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manpages.ubuntu.com/manpages/xenial/man7/bash-builtins.7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ldp.org/LDP/abs/html/numerical-constant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uxnix.com/regular-expressions-linux-i/" TargetMode="External"/><Relationship Id="rId2" Type="http://schemas.openxmlformats.org/officeDocument/2006/relationships/hyperlink" Target="https://www.linuxnix.com/10-file-globbing-examples-linux-unix/" TargetMode="Externa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academy.com/blog/linux/conditions-in-bash-scripting-if-statements/#file-based-condition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linuxacademy.com/blog/linux/conditions-in-bash-scripting-if-statements/#arithmetic-conditions" TargetMode="External"/><Relationship Id="rId4" Type="http://schemas.openxmlformats.org/officeDocument/2006/relationships/hyperlink" Target="https://linuxacademy.com/blog/linux/conditions-in-bash-scripting-if-statements/#string-based-conditions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tldp.org/LDP/abs/html/x17129.html" TargetMode="External"/><Relationship Id="rId2" Type="http://schemas.openxmlformats.org/officeDocument/2006/relationships/hyperlink" Target="https://linuxtechlab.com/bash-scripting-learn-use-regex-basics/" TargetMode="Externa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ryanstutorials.net/bash-scripting-tutorial/bash-functions.ph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www.linuxjournal.com/content/return-values-bash-functions" TargetMode="External"/><Relationship Id="rId4" Type="http://schemas.openxmlformats.org/officeDocument/2006/relationships/hyperlink" Target="https://www.howtoforge.com/tutorial/linux-shell-scripting-lessons-5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ro/url?sa=t&amp;rct=j&amp;q=&amp;esrc=s&amp;source=web&amp;cd=4&amp;cad=rja&amp;uact=8&amp;ved=2ahUKEwiir-yJorPgAhUSp4sKHVrjCn0QFjADegQICxAB&amp;url=https://sookocheff.com/post/bash/parsing-bash-script-arguments-with-shopts/&amp;usg=AOvVaw3PXlFZJF03yOtgulXIGeXR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0958368-3E3A-4AF4-8B17-4913CA377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393" y="156306"/>
            <a:ext cx="79630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83ADB9F-76C2-4F66-AD51-31EA31FEC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888" y="2110044"/>
            <a:ext cx="4923331" cy="1616831"/>
          </a:xfrm>
        </p:spPr>
        <p:txBody>
          <a:bodyPr/>
          <a:lstStyle/>
          <a:p>
            <a:r>
              <a:rPr lang="en-US" b="0" dirty="0"/>
              <a:t>Bash Scripting</a:t>
            </a:r>
            <a:br>
              <a:rPr lang="en-US" b="0" dirty="0"/>
            </a:br>
            <a:r>
              <a:rPr lang="en-US" b="0" dirty="0"/>
              <a:t>Fundamentals </a:t>
            </a:r>
            <a:br>
              <a:rPr lang="en-US" b="0" dirty="0"/>
            </a:br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0896D008-5551-4059-9E83-0BCE3E39D81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32905" y="4211784"/>
            <a:ext cx="1485256" cy="623012"/>
          </a:xfrm>
        </p:spPr>
        <p:txBody>
          <a:bodyPr/>
          <a:lstStyle/>
          <a:p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Alexandru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Nicolescu</a:t>
            </a:r>
            <a:endParaRPr lang="en-US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November 2018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F141C-CDAF-4931-8410-6E0F332947F2}"/>
              </a:ext>
            </a:extLst>
          </p:cNvPr>
          <p:cNvSpPr txBox="1">
            <a:spLocks/>
          </p:cNvSpPr>
          <p:nvPr/>
        </p:nvSpPr>
        <p:spPr>
          <a:xfrm>
            <a:off x="132905" y="3297606"/>
            <a:ext cx="4092731" cy="6230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783" rtl="0" eaLnBrk="1" latinLnBrk="0" hangingPunct="1">
              <a:defRPr sz="1050" b="0" i="0" kern="1200">
                <a:solidFill>
                  <a:schemeClr val="bg1"/>
                </a:solidFill>
                <a:latin typeface="Roboto Regular" charset="0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 smarter, not harder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251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D62EF-8C41-49CD-BE67-27471711F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59560"/>
            <a:ext cx="7277100" cy="36389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Before we start…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623455"/>
            <a:ext cx="8371553" cy="194829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Purpose of this course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At the end of the course you should be able to: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Have a basic understanding of Bash (as a programming language), allowing you to analyze, understand and adapt existing scripts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this course as starting point to develop your own scripts to perform various tasks, as needed – i.e. scripts for task automation, text parsing/log analysis, system/application monitoring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675" y="4749404"/>
            <a:ext cx="3086100" cy="273844"/>
          </a:xfrm>
        </p:spPr>
        <p:txBody>
          <a:bodyPr/>
          <a:lstStyle/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B9729-EAE3-4370-B96D-587D36E0B9FB}"/>
              </a:ext>
            </a:extLst>
          </p:cNvPr>
          <p:cNvSpPr txBox="1">
            <a:spLocks/>
          </p:cNvSpPr>
          <p:nvPr/>
        </p:nvSpPr>
        <p:spPr>
          <a:xfrm>
            <a:off x="285749" y="2571750"/>
            <a:ext cx="4286251" cy="194829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Overall Agenda</a:t>
            </a:r>
          </a:p>
          <a:p>
            <a:pPr marL="742941" lvl="1" indent="-400050">
              <a:buFont typeface="+mj-lt"/>
              <a:buAutoNum type="romanUcPeriod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Creating your first shell script</a:t>
            </a:r>
          </a:p>
          <a:p>
            <a:pPr marL="742941" lvl="1" indent="-400050">
              <a:buFont typeface="+mj-lt"/>
              <a:buAutoNum type="romanUcPeriod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Arguments, Variables, Substitutions</a:t>
            </a:r>
          </a:p>
          <a:p>
            <a:pPr marL="742941" lvl="1" indent="-400050">
              <a:buFont typeface="+mj-lt"/>
              <a:buAutoNum type="romanUcPeriod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Essential External Tools</a:t>
            </a:r>
          </a:p>
          <a:p>
            <a:pPr marL="742941" lvl="1" indent="-400050">
              <a:buFont typeface="+mj-lt"/>
              <a:buAutoNum type="romanUcPeriod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Conditional Statements</a:t>
            </a: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89E2ED-368D-4E0B-B774-D028042673AB}"/>
              </a:ext>
            </a:extLst>
          </p:cNvPr>
          <p:cNvSpPr txBox="1">
            <a:spLocks/>
          </p:cNvSpPr>
          <p:nvPr/>
        </p:nvSpPr>
        <p:spPr>
          <a:xfrm>
            <a:off x="4571999" y="2571750"/>
            <a:ext cx="4286251" cy="194829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extras</a:t>
            </a:r>
          </a:p>
          <a:p>
            <a:pPr marL="742941" lvl="1" indent="-400050">
              <a:buFont typeface="+mj-lt"/>
              <a:buAutoNum type="romanUcPeriod" startAt="5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Arrays, Regular Expressions, Functions, Libraries, Working with Options, Using Traps</a:t>
            </a:r>
          </a:p>
          <a:p>
            <a:pPr marL="742941" lvl="1" indent="-400050">
              <a:buFont typeface="+mj-lt"/>
              <a:buAutoNum type="romanUcPeriod" startAt="5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Script Debugging and In-Depth Analyzing, Scripting By Example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4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6593" y="1671637"/>
            <a:ext cx="5230813" cy="1800225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Agenda</a:t>
            </a:r>
          </a:p>
          <a:p>
            <a:pPr marL="1085832" lvl="2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your first shell script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2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Arguments, Variables, Substitutions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2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Essential External Tools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2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113120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31936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What exactly is a shell script?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 executable program that puts together a list of commands to be executed sequentially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How do you create a shell script?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any text editor to write the code. In Linux the most popular options are ‘vi’ or ‘vim’ (aka improved vi)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Save it (i.e.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myscript.bsh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), add execute permission (‘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chmod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+x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myscript.bsh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’), then run it and watch the magic happen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Core Bash scripting ingredients: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Include #!/bin/bash (aka ‘shebang’) as first line (execute ‘which bash’ command to validate the path to the bash executable)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 comments (introduced by ‘#’) to explain the program or various sections of the code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Note: the ‘shebang’ is the only line still interpreted (having a special meaning) although it starts with ‘#’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Write lines and structural components in a readable manner; commands can be written one per line or multiple commands on the same line, separated by ‘;’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exit statement (‘exit &lt;code&gt;’) if you don't want to use the exit status (‘echo $?’) of the last command executed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Note: by convention, the &lt;code&gt; is 0 on success or an integer in the range 1 - 255 on error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280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Storing and Running the script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script needs to be saved as an executable program on the disc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PATH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environmental variable in Linux tells the shell which directories to search for executable files in response to commands issued by a user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Consider storing the script in a directory that is in $PATH (or adding the path of the script into the PATH variable –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 more detail later on), otherwise it might be needed to execute the script using the full/absolute path (or go in the script location and run the script using ./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myscript.bsh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Bash Internal commands versus External commands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Internal commands (aka built-in commands)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are part of the bash shell and therefore are faster;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External commands are loaded from an executable file on the disk and therefore are normally slower than internal ones; a script itself is the most common case of an external command (but it can be also apps like ‘ftp’, 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Internal commands always have precedence over External commands (if they have the same name and are not called with full path)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Finding help about scripting components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“man bash” contains all the info you need but is very large; instead we can use “man &lt;command&gt;” to check the manual pages for a particular command (i.e. “man cat”); also “help &lt;command&gt;” can be used for info about bash internals (i.e. “help echo”); …Google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271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Recap / Q&amp;A / Short Quiz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Exercise – the warmup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Putting some simple commands together to execute sequentially shouldn’t be that difficult, right?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Write a bash script that: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Creates an empty text file called “text” – use the command ‘touch &lt;filename&gt;’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Renames “text” to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text.old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 file – use the command ‘mv &lt;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oldname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&gt; &lt;newname&gt;’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Removes the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text.old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 file – use the command ‘rm &lt;filename&gt;’</a:t>
            </a:r>
          </a:p>
          <a:p>
            <a:pPr marL="285750" indent="-2857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script should also: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Contain at least one comment – introduced by special character ‘#’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Display output messages to inform the user about each operation (where applicable) – use the command ‘echo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your_text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List the current directory at each step to highlight the change – use the command ‘ls’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Include an exit status/code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r>
              <a:rPr lang="en-US" dirty="0"/>
              <a:t>© 2018 </a:t>
            </a:r>
            <a:r>
              <a:rPr lang="en-US" dirty="0" err="1"/>
              <a:t>Axway</a:t>
            </a:r>
            <a:r>
              <a:rPr lang="en-US" dirty="0"/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998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6593" y="1671637"/>
            <a:ext cx="5230813" cy="1800225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Agenda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your first shell script</a:t>
            </a:r>
          </a:p>
          <a:p>
            <a:pPr marL="1085832" lvl="2" indent="-400050">
              <a:buClr>
                <a:schemeClr val="bg1"/>
              </a:buClr>
              <a:buFont typeface="+mj-lt"/>
              <a:buAutoNum type="romanUcPeriod" startAt="2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Arguments, Variables, Substitutions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3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Essential External Tools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3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90843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326295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About terminology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 argument is anything that can be used after a command – i.e. ‘ls -l /home’ has 2 arguments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 option is an argument specifically designed to change the command behavior –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‘-l’ used above is also an option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variable is a name/label that is stored in memory and contains a specific value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STDIN(0) / STDOUT(1) / STDERR(2)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Piping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Used to feed the output from one program/command to another program/command: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command1 | command2 : any output printed by command1 is passed as input to command2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command1 |&amp; command2 : a shorthand for “2&gt;&amp;1 |” - combines both standard output and standard error of command1 into a single stream and pass it as input to command2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some examples: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ls -la /dev | more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ls -la /dev |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wc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035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395567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Redirecting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Used to feed the output from one program/command to a file or stream (instead of another program)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Some options/examples: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&lt; file.txt : give file.txt as input(stdin) to the command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&gt; out.txt : save the output(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stdout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of command in file out.txt (overwrites it if it exists, creates it if not)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&gt; out.txt 2 &gt; error.txt :  same as above but also redirects errors(stderr) to error.txt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&lt; file.txt &gt; out.txt 2&gt; error.txt : all of the above combined; note redirecting is done in the order it appears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&gt;&gt; out.txt : same as &gt; except out.txt is not overwritten if it exists (the new data are appended)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&amp;&gt; out.txt (or command &gt; out.txt 2&gt;&amp;1 ) : both output(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stdout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and errors(stderr) are saved in out.txt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&amp;&gt;&gt; out.txt : both output(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stdout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and errors(stderr) are appended to out.txt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command &lt;&lt; word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text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word	: aka here-documents - command takes “text” (everything between occurrences of “word”) as input 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 &lt;&lt;&lt; “$VAR” : expands the variable VAR and passes it’s contents as input(stdin) to the command (depending on the command)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‘command’ can also be a script which is executed, below is a common way of executing a script to save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stdout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/stderr into same logfile</a:t>
            </a:r>
          </a:p>
          <a:p>
            <a:pPr>
              <a:buClr>
                <a:srgbClr val="DC3C3E"/>
              </a:buClr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myscript.bsh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&lt;arguments&gt; &gt; out.txt 2&gt;&amp;1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508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32629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and Defining Variables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Using variables makes a script flexible, they allow for dynamic scripts that can easily be modified to act on different values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As a best practice Variable names should contain only uppercase letters, but they can also include lowercase letters, digits and underscore; variable names are case sensitive, i.e. PATH is not the same 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Declaring / defining variables can be done in 3 ways: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Static: [declare/typeset &lt;options&gt;] VARNAME=value; examples of options: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-a : variable is an array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75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 : variable is an integer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-r : variable is read-only (cannot then be assigned values by subsequent assignment statements, nor can they be unset)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-p : display attributes and values of the variable 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Interactively (as user input) using the command ‘read VARNAME’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As an argument to a script, which will automatically define (inside the script) some variables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Unsetting a variable is done using the command ‘unset VARNAME’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value of a variable can be accessed/referenced with $VARNAME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Variables are by default local to their shell, but they can be exported as well to subshells with the ‘export VARNAME’ command; it is impossible to make variables available in parent shells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no specifications are given, a variable is “untyped” - it can hold any type of data (numbers, strings, arrays*); most common usage is with strings and numbers, an “untyped” variable is considered string/number depending on the context/usage (performed operation)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314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67265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Basic number (arithmetic) operators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 arithmetic operation in bash is introduced by the double round parentheses; the syntax is ‘((expression))’, which evaluates the expression from mathematical point of view. If '$' is also used before the construction, then the result is also returned after doing the operation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$(($a + $b)) ; $(($a - $b)) ; $(($a * $b)) ; $(($a / $b))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$(($a % $b)) : modulo (the integer remainder of a divided by b)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((a+=b)) : same as doing ‘a=$(($a + $b))’; applicable also for - , * , / and %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$(($a ** $b)) : exponentiation (a to the power of b)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((a++)): same as ((a+=1)); applicable also for –; just like in c/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, there is a difference between ((a++)) and ((++a))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it is not mandatory to reference also the variables used in the expression but it is a best practice. 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$((a + b))  is the same with $(($a + $b)) ; but (($a++)) will return error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Observation! Pay special attention to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Octal/Hexadecimal numbers: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i.e. ‘echo $((051 + 31))’ / ‘echo $((0x51))’</a:t>
            </a:r>
          </a:p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possible also to use external calculation methods: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With ‘let’ command: </a:t>
            </a:r>
          </a:p>
          <a:p>
            <a:pPr marL="857232" lvl="2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let x=“2+3”; echo $x;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With 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(which can deal with more than just integers) - has it’s own shell but can be used also in non-interactive mode:</a:t>
            </a:r>
          </a:p>
          <a:p>
            <a:pPr marL="857232" lvl="2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echo “scale=5;10/3” |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or	VAR=$(echo “scale=5;10/3” |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514341" lvl="1" indent="-171450">
              <a:buFontTx/>
              <a:buChar char="-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1885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67265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Basic string operators and operations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of the most useful ones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${#STR} : string length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${STR:$POS:$LEN} : substring extraction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${STR/what/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with_what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 : substring replacement for first occurrence; ${STR//what/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with_what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 for all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STR#pattern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 : from L to R, find the first occurrence and delete everything in front (including match)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${STR##pattern} : from L to R, find the last occurrence and delete everything in front (including match)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STR%pattern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 : from R to L, find the first occurrence and delete match and everything after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${STR%%pattern} : from R to L, find the last occurrence and delete match and everything after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${STR:-x} : if $STR exists use it's value, if not return "x" (this does not set the variable)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 :=x} : if $STR exists use it's value, if not set it's value to "x"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${STR :?message) : if $STR exists show it's value, if not display STR followed by message (if omitted, message will be provided by system) and program exists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STR+=“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blabla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 : append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blabla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 to STR</a:t>
            </a:r>
          </a:p>
          <a:p>
            <a:pPr marL="514341" lvl="1" indent="-1714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41" lvl="1" indent="-1714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270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326295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Sourcing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Sources the contents of one file/script into another script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the ‘source &lt;something&gt;’ or the ‘. &lt;something&gt;’ (command is a file or script)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 not use ‘exit’ statements inside a file/script that needs to be sourced ..Why? Shell/Sub-Shell and the difference between sourcing and executing scripts?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Another utility of sourcing – importing “libraries”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 more detail later on)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Quoting/Escaping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Used to remove the special meaning of certain characters (aka metacharacters) or words to the shell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Quoting can be done in 3 ways: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Per-character escaping with backslash(\) – with the exception of newline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Weak quoting with double quotes (“) – with the exception of $, `, \ (and ! if history expansion is enabled)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Strong quoting with single quotes (‘) – nothing is interpreted, except the single-quote that closes the string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not all metacharacters need to be escaped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do not mistake the single quote (‘) used in escaping for the backtick/back quote (`) used in command substitution (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slide 15)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68027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10BCAD-ACA2-4687-9981-D14A97BA8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96730"/>
              </p:ext>
            </p:extLst>
          </p:nvPr>
        </p:nvGraphicFramePr>
        <p:xfrm>
          <a:off x="457200" y="391884"/>
          <a:ext cx="3619500" cy="4053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331171347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3473045672"/>
                    </a:ext>
                  </a:extLst>
                </a:gridCol>
              </a:tblGrid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Meta-character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221976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8491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substitution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37710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49465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31716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Background 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71420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wildcard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4148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Start/End subshell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04707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Escape next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645534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2739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Start/End character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44594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Start/End command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266254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 command separator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8387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quote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9832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 quote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40623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redirect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6792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redirect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3003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Pathname directory separator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092851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character wildcard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897192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C41A73-AA10-4C64-9FE9-38D190679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59560"/>
            <a:ext cx="4286250" cy="4326295"/>
          </a:xfrm>
        </p:spPr>
        <p:txBody>
          <a:bodyPr>
            <a:normAutofit/>
          </a:bodyPr>
          <a:lstStyle/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 Asterisk (*), Question mark (?) and Square brackets ([]) are aka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Globbing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Characters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used as wildcards to represent multiple filenames matching a pattern/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regular expression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9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Command Substitution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Allows using the result/output of a command in a script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Allowed syntax: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`command` (deprecated)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$(command) (preferred)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Clr>
                <a:srgbClr val="DC3C3E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Here Documents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 form of I/O redirection to feed text and/or commands to a command or interactive program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Syntax: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DC3C3E"/>
              </a:buClr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Command/interactive-program &lt;&lt;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LimitString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DC3C3E"/>
              </a:buClr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lvl="1">
              <a:buClr>
                <a:srgbClr val="DC3C3E"/>
              </a:buClr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lvl="1">
              <a:buClr>
                <a:srgbClr val="DC3C3E"/>
              </a:buClr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LimitString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inside the text there can be also references to variables</a:t>
            </a:r>
          </a:p>
          <a:p>
            <a:pPr lvl="1">
              <a:buClr>
                <a:srgbClr val="DC3C3E"/>
              </a:buClr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6127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Handling Script Arguments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$1, $2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 refer the 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argument; $0 is the name of the calling script itself (how it was called in CLI)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${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 to refer to arguments beyond 9; or use ‘shift’ (eliminates $1 so $2 becomes $1, $3 becomes $2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$@ to refer to all arguments provided, where all arguments can be treated one by one, i.e. using ‘for’: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 "$@"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echo $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$* if you need a single string that contains all arguments (rarely used); if a script is expected to have arguments it is usually tested in the beginning, i.e.: (both structures will be discussed in more detail later on)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 -z “$*” ] &amp;&amp; echo "No arguments provided" &amp;&amp; exit 1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[ -z “$*” ]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…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…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$# is the number of arguments passed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0497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36543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Recap / Q&amp;A / Short Quiz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practice: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the below scripts (available in lesson2/practice/) you need to correct any existing mistakes (i.e. incorrect variable references, missing keywords or symbols from the syntax, incorrect exit statements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and fill in the missing code to make the script functional (based on the description). The scripts themselves contain references to slides/other scripts that might be helpful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ch_pr_args.bsh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- Create a script that checks if arguments were provided, if yes it prints the number of arguments and prints the arguments, one per line; When executing the script, use output redirection (slide 9) to store the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stdout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stderr into a file (i.e. "log.txt").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sum_nums.bsh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- Create a script that adds 3 numbers: one is defined inside the script, one taken as user input and one defined in a separate file (i.e. "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sourcenum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") which will be sourced. Side note: make sure also the sourced file is correct, not only the script itself :-)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480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73414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Exercise – work smart, not hard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customer is providing you every week a list of files that need to be “processed” (i.e. created/renamed/removed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). Not a big deal if there are only few files, but what if the customer sends you a list of 200 filenames? Not cool. So instead of doing manual labor, you decide to write a script that does the job for you. The script accepts a command and the list of filenames as arguments, then executes the command for each of the filenames in the list.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week you need to create files so your script will receive as arguments the ‘touch’ command, followed by the list of filenames (generate your own list of 3-4 filenames)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script will be your friend so it should let you know if something is wrong, keep you updated with what it is doing etc.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Hints/Ideas: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Check if arguments were provided to the script and exit if not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Include a here document with a short description of what is about to happen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Print “The current working directory is …” just to be sure you’re in the right place; you can do this using command substitution – the command is 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pwd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When processing the argument list (using “$@” or “$*”, whichever is more suitable), first extract the command (store the first argument in a variable) and then you might want to use ‘shift’ to “isolate” the list of files (remaining arguments)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Would be nice to display output messages about each operation (where applicable) so you know what’s going on</a:t>
            </a:r>
          </a:p>
          <a:p>
            <a:pPr marL="171450" indent="-1714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8258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6593" y="1671637"/>
            <a:ext cx="5230813" cy="1800225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Agenda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your first shell script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Arguments, Variables, Substitutions</a:t>
            </a:r>
          </a:p>
          <a:p>
            <a:pPr marL="1085832" lvl="2" indent="-400050">
              <a:buClr>
                <a:schemeClr val="bg1"/>
              </a:buClr>
              <a:buFont typeface="+mj-lt"/>
              <a:buAutoNum type="romanUcPeriod" startAt="3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Essential External Tools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4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422427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‘grep’ (</a:t>
            </a:r>
            <a:r>
              <a:rPr lang="en-US" sz="1200" dirty="0"/>
              <a:t>global regular expression print)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Very flexible tool (that can also use regular expressions) to search for text patterns; most common options: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: case insensitive search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-v : exclude lines that match the pattern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-r : recursive (can search in sub-directories as well)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-c : a count of matching lines for each input file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-e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egrep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): for matching regular expressions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-A2 : shows the matching line and the 2 lines after the match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grep -B3 : shows the matching line and the 3 lines before the match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‘head’ and ‘tail’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/>
              <a:t>Used to display the first/last line(s) of a file;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most common options: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head -a : first a lines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tail -b : last b lines; tail -n +Y : print from line Y 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EndOfFfile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tail -f : output appended data as the file grows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Note: the line number can be also passed as variable, i.e.: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x=3; y=2; head -$x file | tail -$y : extracts lines 2 and 3 from file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957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66486"/>
            <a:ext cx="8572500" cy="4686513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‘cut’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‘cut’ i</a:t>
            </a:r>
            <a:r>
              <a:rPr lang="en-US" sz="1200" dirty="0"/>
              <a:t>s used to filter a specific column or field out of a line; most common syntax/options: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 -d ‘&lt;delimiter&gt;’ -f &lt;field(s)&gt; file : extract fields from file based on provided delimiter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not specified, default delimiter “tab” is used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Quoting the delimiter is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 mandatory but will be needed for metacharacters 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field is usually a list (i.e. 1,3) or a range (i.e. 1-4, 3- , -2), but can be also passed as variable (i.e. cut -f $x)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also extract characters, not only fields: </a:t>
            </a:r>
          </a:p>
          <a:p>
            <a:pPr lvl="1">
              <a:buClr>
                <a:srgbClr val="DC3C3E"/>
              </a:buClr>
            </a:pP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</a:t>
            </a:r>
            <a:r>
              <a:rPr lang="es-E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|cut -c 2-4 : extract characters 2 through 4 from the word “hello”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it is not mandatory to use a file as input, we can also pipe the input to ‘cut’  (above examples)</a:t>
            </a:r>
            <a:endParaRPr lang="es-E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Clr>
                <a:srgbClr val="DC3C3E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‘sort’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‘sort’ is used to order the input on various criteria</a:t>
            </a:r>
            <a:r>
              <a:rPr lang="en-US" sz="1200" dirty="0"/>
              <a:t>; most common options: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sort : without any option it uses ‘-d’=dictionary-order, consider only blanks and alphanumeric characters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sort -n : numeric sort, compare according to string numerical value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sort -r : reverse sort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sort -u : unique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sort 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kn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-t ‘&lt;delimiter&gt;’ : sort by n-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column (splitting by ‘delimiter’ – if no delimiter is mentioned, space will be used)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it is not mandatory to use a file as input, we can also pipe the input to ‘sort’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an alternative to ‘sort -u’ is to pipe the output of sort to the ‘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command (which has some options of its own)</a:t>
            </a:r>
            <a:endParaRPr lang="es-E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6775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66487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Helps in transforming/translating strings; most common options: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echo say hello to my little friend |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[a-z] [A-Z] (or better: echo “say hello to my little friend” |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[:lower:] [:upper:] 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echo say hello to my little friend | tr -s ‘l’  # quoting not mandatory but will be needed for metacharacters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sxaxy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hxexlxlxo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xtox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xmyx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lixtxtlxe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frixendx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tr -d ‘x’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’ (streamline editor)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i</a:t>
            </a:r>
            <a:r>
              <a:rPr lang="en-US" sz="1200" dirty="0"/>
              <a:t>s more than a text processing utility, it is more of a programming language itself, therefore excellent for more complex operations; some examples: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-n 5p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prints 5</a:t>
            </a:r>
            <a:r>
              <a:rPr lang="en-US" sz="1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 from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passwd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‘s/old-text/new-text/g’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substitute globally(all occurrences) of old-text with new-text in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write it to the file (without “-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it would print the result on the screen)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‘s/^ *//’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trims the leading spaces on each line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-e ‘2d’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delete 2</a:t>
            </a:r>
            <a:r>
              <a:rPr lang="en-US" sz="1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 from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(“-e” tells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expression to be executed follows, in this case “2d” is a command inside vi that deletes 2</a:t>
            </a:r>
            <a:r>
              <a:rPr lang="en-US" sz="1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-e ‘2d;20,25d’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delete 2</a:t>
            </a:r>
            <a:r>
              <a:rPr lang="en-US" sz="1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 and lines 20 through 25 from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myfile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it is not mandatory to use a file as input, we can also pipe the input to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i.e.: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sxaxy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hxexlxlxo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xtox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xmyx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lixtxtlxe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frixendx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‘s/x//g’</a:t>
            </a:r>
          </a:p>
          <a:p>
            <a:pPr lvl="0">
              <a:buClr>
                <a:srgbClr val="DC3C3E"/>
              </a:buClr>
            </a:pPr>
            <a:endParaRPr lang="en-US" sz="1200" dirty="0">
              <a:solidFill>
                <a:srgbClr val="000000"/>
              </a:solidFill>
            </a:endParaRP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DC3C3E"/>
              </a:buClr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7050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Alternative</a:t>
            </a:r>
            <a:r>
              <a:rPr lang="en-US" sz="1200" dirty="0"/>
              <a:t> to ‘cut’, highly useful for more complex operations; some examples: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‘{print $4}’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 : using field separator : print the 4</a:t>
            </a:r>
            <a:r>
              <a:rPr lang="en-US" sz="1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column/field from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‘/user/ {print $4}’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 : same but only for lines containing “user”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‘{print $1,$(NF-1),$NF}’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 : first and last 2 columns/fields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‘$3 &gt; 500’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 : print only lines where 3</a:t>
            </a:r>
            <a:r>
              <a:rPr lang="en-US" sz="1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 is greater than 500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‘$NF ~/bash/’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 : print only lines where last column contains “bash”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also BEGIN/END rules(aka begin/end blocks), which supply startup and cleanup actions for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 (they are executed only once before the execution starts and after it is finished); i.e.: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'BEGIN {print "Listing all lines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3rd column is greater than 500\n"}; $3 &gt; 500 {print "Whole line is " $0 " and used shell is " $NF}; END {print "\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nThat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all I could find..."}' 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/passwd</a:t>
            </a:r>
          </a:p>
          <a:p>
            <a:pPr lvl="1">
              <a:buClr>
                <a:srgbClr val="DC3C3E"/>
              </a:buClr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Note1: it is not mandatory to use a file as input, we can also pipe the input to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i.e.: 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“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hello:Nico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|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‘:’ ‘{print $2}’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quoting is not mandatory for regular characters but will be needed for metacharacters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 -1 file |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‘|’ ‘{print $4}’</a:t>
            </a:r>
          </a:p>
          <a:p>
            <a:pPr lvl="1">
              <a:buClr>
                <a:srgbClr val="DC3C3E"/>
              </a:buClr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5230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73414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Recap / Q&amp;A / Short Quiz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practice: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Complete the exercises described in the lesson3/practice/exercises.txt file. The file contains also references to slides/other scripts that might be helpful, as well as hints/ideas for some of the exercises. The input files required for the exercises are located in the same directory with the exercises.txt file.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491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73414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Exercise – feels good to be bad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are a cyber thief now and your informer just provided you a file that contains everything you need to break into the site. The file contains a 5x5 matrix of strings (separated by delimiters, check the file before to see what delimiter is used). The file name is of format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data_a_b_c_d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where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a&amp;b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are the matrix coordinates (line a, col b) for the user and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c&amp;d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are the matrix coordinates (line c, col d) for the password.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Your job is to create a script that takes the filename as input and returns the user (in lowercase) and password (as it is).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Hints/Ideas: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can use 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to extract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a,b,c,d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from the filename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can use 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head’+’tail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and ‘cut’/’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to go to the correct line/column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can use ‘sed’/’tr’ to trim any unneeded spaces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can also use ‘tr’ to transform the username to lowercase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0068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6593" y="1671637"/>
            <a:ext cx="5230813" cy="1800225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Agenda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your first shell script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Arguments, Variables, Substitutions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Essential External Tools</a:t>
            </a:r>
          </a:p>
          <a:p>
            <a:pPr marL="1085832" lvl="2" indent="-400050">
              <a:buClr>
                <a:schemeClr val="bg1"/>
              </a:buClr>
              <a:buFont typeface="+mj-lt"/>
              <a:buAutoNum type="romanUcPeriod" startAt="4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Conditional Statements </a:t>
            </a:r>
          </a:p>
        </p:txBody>
      </p:sp>
    </p:spTree>
    <p:extLst>
      <p:ext uri="{BB962C8B-B14F-4D97-AF65-F5344CB8AC3E}">
        <p14:creationId xmlns:p14="http://schemas.microsoft.com/office/powerpoint/2010/main" val="299575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1"/>
            <a:ext cx="4286250" cy="231219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‘if’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 [ condition ]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1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2 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3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4 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351733-1824-4342-96B5-D9F0253BF690}"/>
              </a:ext>
            </a:extLst>
          </p:cNvPr>
          <p:cNvSpPr txBox="1">
            <a:spLocks/>
          </p:cNvSpPr>
          <p:nvPr/>
        </p:nvSpPr>
        <p:spPr>
          <a:xfrm>
            <a:off x="4907107" y="2721230"/>
            <a:ext cx="4236893" cy="2028174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91F315-E65A-4DC6-AB49-3E5097D8B61A}"/>
              </a:ext>
            </a:extLst>
          </p:cNvPr>
          <p:cNvSpPr txBox="1">
            <a:spLocks/>
          </p:cNvSpPr>
          <p:nvPr/>
        </p:nvSpPr>
        <p:spPr>
          <a:xfrm>
            <a:off x="285750" y="2632363"/>
            <a:ext cx="8572500" cy="211704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condition can be a single condition, multiple conditions (that need to be all satisfied) or even a command/sequence of commands (and overall exit code 0 means true)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 can be also negated using ‘!’; i.e. ‘if [ ! condition ]; then…’ or ‘if ! [ condition ]; then…’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else/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branches are optional, but the if statement must always be closed with ‘fi’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can be more than one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branches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‘if’ can also be re-written using the logical operators:</a:t>
            </a:r>
          </a:p>
          <a:p>
            <a:pPr marL="857232" lvl="2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&amp;&amp; : logical AND, the second command executes only if the first returns a zero exit-code (success)</a:t>
            </a:r>
          </a:p>
          <a:p>
            <a:pPr marL="857232" lvl="2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|| : logical OR, the second command executes only if the first returns a non-zero exit-code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D49585-63C4-4C2D-A4E4-0A8984EFBC08}"/>
              </a:ext>
            </a:extLst>
          </p:cNvPr>
          <p:cNvSpPr txBox="1">
            <a:spLocks/>
          </p:cNvSpPr>
          <p:nvPr/>
        </p:nvSpPr>
        <p:spPr>
          <a:xfrm>
            <a:off x="4572000" y="259560"/>
            <a:ext cx="4286250" cy="248418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“if inside an if”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[ condition1 ]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514341" lvl="1" indent="-171450">
              <a:buFontTx/>
              <a:buChar char="-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[ condition2 ]</a:t>
            </a:r>
          </a:p>
          <a:p>
            <a:pPr marL="857232" lvl="2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</a:p>
          <a:p>
            <a:pPr marL="1200124" lvl="3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408756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266487"/>
            <a:ext cx="8657359" cy="4756761"/>
          </a:xfrm>
        </p:spPr>
        <p:txBody>
          <a:bodyPr>
            <a:normAutofit lnSpcReduction="10000"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File-based conditions</a:t>
            </a:r>
            <a:r>
              <a:rPr lang="en-US" sz="1200" dirty="0"/>
              <a:t>; most common options: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-e file ] : true if ‘file’ exists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-f file ] : true if ‘file’ exists and is a file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-d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 : true if ‘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exists and is a directory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String-based conditions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below operators: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-z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 / [ -n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]  : true if ‘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is an empty / non-empty string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str1 = str2 ] / [ str1 != str2 ] : true if ‘str1’ and ‘str2’ are equal / not equal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[[ str1 =~ expr ]] : true if ‘str1’ matches regex pattern ‘expr’ (note the double brackets)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str1 \&gt; str2 ] : true if ‘str1’ sorts after ‘str2’ lexicographically # escaped the ‘&gt;’ sign as it is a metacharacter (i/o redirect)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str1 \&lt; str2 ] : true if ‘str1’ sorts before ‘str2’ lexicographically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Arithmetic conditions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below operators: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n1 -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n2 ] / [ n1 -ne n2 ] : true if ‘n1’ is equal / not equal to ‘n2’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n1 -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n2 ] / [ n1 -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n2 ] : true if ‘n1’ is less / greater than ‘n2’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n1 -le n2 ] / [ n1 -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n2 ] : true if ‘n1’ is less / greater than or equal to ‘n2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for arithmetic conditions it is also possible to use the usual numerical operators (==, &lt;, &lt;=, &gt;, &gt;=) but the condition needs to be enclosed in round double-brackets; i.e.: (( n1 &lt; n2 ))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Note1: The syntax highlighted above must include also the spaces, without them the tests could result in error.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When one of the operands references a variable, then it is best to enclose both operands in double quotes: </a:t>
            </a:r>
          </a:p>
          <a:p>
            <a:pPr>
              <a:buClr>
                <a:srgbClr val="DC3C3E"/>
              </a:buClr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i.e. if [ “$str1” = “comparison string” ]; then…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422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66487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‘for’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 “something”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Note1: any variable/counter can be used, “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is just an example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“something” can be: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list of values separated by space: 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 in 1 a 2 b 3 bla; do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useradd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user$i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endParaRPr lang="it-IT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range: for j in {155..160}; do  $(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-c 1 10.133.65.$j &gt; /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2&gt; /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&amp;&amp;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"10.133.65.$j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reachable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||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"10.133.65.$j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reachable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endParaRPr lang="it-IT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32" lvl="2" indent="-171450">
              <a:buClr>
                <a:srgbClr val="DC3C3E"/>
              </a:buClr>
              <a:buFontTx/>
              <a:buChar char="-"/>
            </a:pPr>
            <a:r>
              <a:rPr lang="it-IT" sz="1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r>
              <a:rPr lang="it-IT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‘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for’ can also be written in traditional c/</a:t>
            </a:r>
            <a:r>
              <a:rPr lang="en-US" sz="1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syntax for numeric sequences – especially useful when the limits are passed as variables:</a:t>
            </a:r>
          </a:p>
          <a:p>
            <a:pPr marL="857232" lvl="2" indent="-171450">
              <a:buClr>
                <a:srgbClr val="DC3C3E"/>
              </a:buClr>
              <a:buFontTx/>
              <a:buChar char="-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MIN_NO=155; MAX_NO=160;</a:t>
            </a:r>
          </a:p>
          <a:p>
            <a:pPr marL="857232" lvl="2" indent="-171450">
              <a:buClr>
                <a:srgbClr val="DC3C3E"/>
              </a:buClr>
              <a:buFontTx/>
              <a:buChar char="-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(( </a:t>
            </a:r>
            <a:r>
              <a:rPr lang="en-US" sz="1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=MIN_NO; </a:t>
            </a:r>
            <a:r>
              <a:rPr lang="en-US" sz="1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&lt;=MAX_NO; </a:t>
            </a:r>
            <a:r>
              <a:rPr lang="en-US" sz="1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++ )); do…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substitution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for k in $(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passwd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do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$k |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':' '{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$1}'; </a:t>
            </a:r>
            <a:r>
              <a:rPr lang="it-IT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r>
              <a:rPr lang="it-IT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Note3: it is possible to use “</a:t>
            </a:r>
            <a:r>
              <a:rPr lang="en-US" sz="1200" dirty="0"/>
              <a:t>break” and “continue” to control the loop execution: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“break” </a:t>
            </a:r>
            <a:r>
              <a:rPr lang="en-US" sz="1200" dirty="0"/>
              <a:t>is used to skip the entire rest of loop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“continue” </a:t>
            </a:r>
            <a:r>
              <a:rPr lang="en-US" sz="1200" dirty="0"/>
              <a:t>is used to skip the rest of a particular loop iteration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4139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66487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‘while’ and ‘until’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‘while’ is used to execute commands as long as a condition is true 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‘until’ is (not so frequently) used to execute commands as long as a condition is false (until the condition becomes true)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while | until condition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Note1: like many other conditional statements, the condition can be a single condition or multiple conditions (that need to be all satisfied)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unlike ‘for’, ‘while’ and ‘until’ can have “endless loop” scenarios (i.e. while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true;do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…done), where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breaking out requires either an interrupt (‘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Ctrl+D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’) or the usage of the control keyword “break” somewhere inside the loop; the control keyword “continue” is also supported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5987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66487"/>
            <a:ext cx="8572500" cy="469344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‘case’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case $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case1) command-list;;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case2) command-list;;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*) command-list;;</a:t>
            </a:r>
          </a:p>
          <a:p>
            <a:pPr marL="514341" lvl="1" indent="-171450">
              <a:buFontTx/>
              <a:buChar char="-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esac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Note1: case1,case2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(also called clauses) can be a pattern or multiple patterns separated by “|”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Note2: the * clause is not part of the syntax, it is only a best practice to use as an “anything else” option</a:t>
            </a:r>
          </a:p>
          <a:p>
            <a:pPr>
              <a:buClr>
                <a:srgbClr val="DC3C3E"/>
              </a:buClr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‘select’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 a conditional statement, but often used in conjunction with ‘case’ to create menu structures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Syntax is identical with ‘for’, except for the keyword ‘select’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‘select’ is always an endless loop so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breaking out requires either an interrupt (‘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Ctrl+D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’) or the usage of the control keyword “break” somewhere inside the loop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built-in variable PS3 contains the prompt string that ‘select’ uses (its default value is the not particularly useful "#?“)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7133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73414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Recap / Q&amp;A / Short Quiz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practice: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the below script (available in lesson4/practice/) you need to fill in the missing code to make the script functional (based on the description). The script itself contains references to slides/other scripts that might be helpful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prime_numbers.bsh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- The script prints all prime numbers less or equal to the number provided as argument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798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73414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Exercise – one must also play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…the “Guess the number” game he created, of course!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Write a script that picks a random number from 1 to 100 and asks the user to guess the number. The script evaluates the user input and gives appropriate feedback messages (Try a higher number/Try a lower number) until the user guesses the number. When the game ends, the script will tell the user how many tries it took them to find the number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Hints/Ideas: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You can generate the random number using the internal bash function RANDOM; i.e. ‘echo $(( 1 + RANDOM%10 ))’ will return a number between 1 to 10 (including)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counting the number of tries – check chapter 2 on how variables can be incremented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 knowing how many tries it will take, using an endless loop might be a good idea (i.e. while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true;do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…done; don’t forget to somehow “break” out of it though)s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Extra feature: if the user input is not a number the script should inform the user and continue (skip further checks and request user input again); ideas for checking if the input is a number: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regex comparison against ^[0-9]+$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it in a mathematical operation and evaluate the exit code,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,.e.     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((x++)) 2&gt; /dev/null &amp;&amp; echo "number" || echo "not a number"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7149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16FCA-633C-4BE0-84B4-DF3D99729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2571750"/>
            <a:ext cx="1586347" cy="16076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D95CFD-71EE-4D1C-AF78-739748320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491835"/>
            <a:ext cx="3086100" cy="1485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81150A-F708-4776-8F9D-7DAF6A74A2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727" y="3624094"/>
            <a:ext cx="2289462" cy="10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0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6593" y="1671637"/>
            <a:ext cx="5230813" cy="1800225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extras</a:t>
            </a:r>
          </a:p>
          <a:p>
            <a:pPr marL="1085832" lvl="2" indent="-400050">
              <a:buClr>
                <a:schemeClr val="bg1"/>
              </a:buClr>
              <a:buFont typeface="+mj-lt"/>
              <a:buAutoNum type="romanUcPeriod" startAt="5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Arrays, Regular Expressions, Functions, Libraries, Working with Options, Using Traps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6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Debugging and In-Depth Analyzing,         Scripting By Example</a:t>
            </a:r>
          </a:p>
        </p:txBody>
      </p:sp>
    </p:spTree>
    <p:extLst>
      <p:ext uri="{BB962C8B-B14F-4D97-AF65-F5344CB8AC3E}">
        <p14:creationId xmlns:p14="http://schemas.microsoft.com/office/powerpoint/2010/main" val="318755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782050" cy="443713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Arrays (overview)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 array is basically a variable holding a collection of multiple variables (referred to also as elements)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There is no maximum limit to the size of an array, nor any requirement that member variables be indexed or assigned contiguously. Arrays are zero-based: the first element is indexed with the number 0, the indexes need to be positive numbers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Declaring and defining arrays can be done in 3* ways: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Explicit declaration using ‘declare -a ARRAY’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Implicit declaration by initializing one of the elements: ‘ARRAY[INDEX]=value’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Implicit declaration by initializing multiple elements simultaneously with ‘ARRAY=(elem1 elem2 …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elemN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)’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Each value is then in the form of [</a:t>
            </a:r>
            <a:r>
              <a:rPr lang="en-US" sz="750" dirty="0" err="1">
                <a:latin typeface="Arial" panose="020B0604020202020204" pitchFamily="34" charset="0"/>
                <a:cs typeface="Arial" panose="020B0604020202020204" pitchFamily="34" charset="0"/>
              </a:rPr>
              <a:t>indexnumber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]=value; The index number is optional. If it is supplied, that index is assigned to it; otherwise the index of the element assigned is the number of the last index that was assigned, plus one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*It is also possible to use ‘read -a ARRAY’ but it only allows reading elements separated by space (hence the elements themselves cannot contain space)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Note that an array element is basically like an ordinary variable, hence the basic number/string operations discussed in chapter 2 also apply for array elements (depending on the content);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But since the array itself is a variable, it means same operations apply to the whole array, only difference is usage of ‘@‘ (or ‘*’) instead of an index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${ARRAY[index]} : accessing an element  //  ${ARRAY[@]} or ${ARRAY[*]} : accessing the whole array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Append/Add an element to an array : ARRAY=( ${ARRAY[@]}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new_elements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) // ARRAY+=(‘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new_element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Remove an element from an array : unset ARRAY[INDEX] or ARRAY=( ${ARRAY[@]:0:INDEX} ${ARRAY[@]:$((INDEX+1))} 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9731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145840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Regular expressions (overview)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They are used in combination with some utilities (such as ‘grep’,’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awk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’,’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to search/match patterns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They are not the same with shell wildcards, although they also use metacharacters (some of them having the same meaning/usage)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Bash Regex Basics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&amp;&amp;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 brief introduction to Regular Expressions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2D5EA8-A066-475F-9184-B0DB02259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56736"/>
              </p:ext>
            </p:extLst>
          </p:nvPr>
        </p:nvGraphicFramePr>
        <p:xfrm>
          <a:off x="1510145" y="1953524"/>
          <a:ext cx="6123709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3311713473"/>
                    </a:ext>
                  </a:extLst>
                </a:gridCol>
                <a:gridCol w="4313959">
                  <a:extLst>
                    <a:ext uri="{9D8B030D-6E8A-4147-A177-3AD203B41FA5}">
                      <a16:colId xmlns:a16="http://schemas.microsoft.com/office/drawing/2014/main" val="3473045672"/>
                    </a:ext>
                  </a:extLst>
                </a:gridCol>
              </a:tblGrid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Meta-character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221976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any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8491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a range of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37710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[^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all character except for the one mentioned in braces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49465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zero or more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31716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one or more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71420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zero or one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4148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‘n’ numbers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047077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{n,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‘n’ numbers or more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645534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n,m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between ‘n’ and ‘m’ numbers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27390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 ,m}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 match less than or equal to ‘m’ numbers of the preceding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44594"/>
                  </a:ext>
                </a:extLst>
              </a:tr>
              <a:tr h="11762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escape character, used when we need to include one of the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metcharacters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our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266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44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1"/>
            <a:ext cx="4286250" cy="149996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</a:p>
          <a:p>
            <a:pPr marL="514341" lvl="1" indent="-171450">
              <a:buFontTx/>
              <a:buChar char="-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function_name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() {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1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2 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351733-1824-4342-96B5-D9F0253BF690}"/>
              </a:ext>
            </a:extLst>
          </p:cNvPr>
          <p:cNvSpPr txBox="1">
            <a:spLocks/>
          </p:cNvSpPr>
          <p:nvPr/>
        </p:nvSpPr>
        <p:spPr>
          <a:xfrm>
            <a:off x="4907107" y="2721230"/>
            <a:ext cx="4236893" cy="2028174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Tx/>
              <a:buChar char="-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91F315-E65A-4DC6-AB49-3E5097D8B61A}"/>
              </a:ext>
            </a:extLst>
          </p:cNvPr>
          <p:cNvSpPr txBox="1">
            <a:spLocks/>
          </p:cNvSpPr>
          <p:nvPr/>
        </p:nvSpPr>
        <p:spPr>
          <a:xfrm>
            <a:off x="285750" y="1842656"/>
            <a:ext cx="8572500" cy="103909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3"/>
              </a:rPr>
              <a:t>Bash Functions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Functions in Bash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5"/>
              </a:rPr>
              <a:t>Returning Values from Bash Functions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Tx/>
              <a:buChar char="-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D49585-63C4-4C2D-A4E4-0A8984EFBC08}"/>
              </a:ext>
            </a:extLst>
          </p:cNvPr>
          <p:cNvSpPr txBox="1">
            <a:spLocks/>
          </p:cNvSpPr>
          <p:nvPr/>
        </p:nvSpPr>
        <p:spPr>
          <a:xfrm>
            <a:off x="4572000" y="259561"/>
            <a:ext cx="4286250" cy="1499966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171450" marR="0" lvl="0" indent="-17145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C3C3E"/>
              </a:buClr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Or:</a:t>
            </a:r>
          </a:p>
          <a:p>
            <a:pPr marL="514341" lvl="1" indent="-171450">
              <a:buFontTx/>
              <a:buChar char="-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function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function_name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1</a:t>
            </a:r>
          </a:p>
          <a:p>
            <a:pPr marL="857232" lvl="2" indent="-171450">
              <a:buFontTx/>
              <a:buChar char="-"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Command 2 …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R="0" lvl="1" algn="l" defTabSz="685783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DC3C3E"/>
              </a:buClr>
              <a:buSzTx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DD09C1C-41CF-4CF5-9C8B-3F424CD55521}"/>
              </a:ext>
            </a:extLst>
          </p:cNvPr>
          <p:cNvSpPr txBox="1">
            <a:spLocks/>
          </p:cNvSpPr>
          <p:nvPr/>
        </p:nvSpPr>
        <p:spPr>
          <a:xfrm>
            <a:off x="5400675" y="7454719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85783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© 2018 Axway  |  CONFIDENTIAL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67EF90-DE04-413F-9514-E5FFBF097D88}"/>
              </a:ext>
            </a:extLst>
          </p:cNvPr>
          <p:cNvSpPr txBox="1">
            <a:spLocks/>
          </p:cNvSpPr>
          <p:nvPr/>
        </p:nvSpPr>
        <p:spPr>
          <a:xfrm>
            <a:off x="285750" y="2964875"/>
            <a:ext cx="8572500" cy="1458404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2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35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C3C3E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Libraries</a:t>
            </a:r>
          </a:p>
          <a:p>
            <a:pPr marL="171450" indent="-171450">
              <a:buClr>
                <a:srgbClr val="DC3C3E"/>
              </a:buClr>
              <a:buFontTx/>
              <a:buChar char="-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Sections of code (variable, functions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that are frequently used in scripts can be wrapped together in libraries and then sourced within your scripts (instead of defining them inside </a:t>
            </a: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script)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5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66487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Working with Options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It is possible to use dash options to pass arguments to a script. They can be processed within the script using ‘while’, ‘case’ and ‘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getopts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’; an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example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Using Traps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Can be used to redefine signals (like SIGINT, SIGKILL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- consult "man 7 signal" for a list of available signals)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Useful for example to change the behavior of CTRL-C or other ways of killing a script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894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37479A-CDC3-4C20-8282-05161440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5008-2E75-4799-A6C2-C6F5F96639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6593" y="1671637"/>
            <a:ext cx="5230813" cy="1800225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extras</a:t>
            </a:r>
          </a:p>
          <a:p>
            <a:pPr marL="742941" lvl="1" indent="-400050">
              <a:buClr>
                <a:schemeClr val="bg1"/>
              </a:buClr>
              <a:buFont typeface="+mj-lt"/>
              <a:buAutoNum type="romanUcPeriod" startAt="5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Arrays, Regular Expressions, Functions, Libraries, Working with Options, Using Traps</a:t>
            </a:r>
          </a:p>
          <a:p>
            <a:pPr marL="1085832" lvl="2" indent="-400050">
              <a:buClr>
                <a:schemeClr val="bg1"/>
              </a:buClr>
              <a:buFont typeface="+mj-lt"/>
              <a:buAutoNum type="romanUcPeriod" startAt="6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Debugging and In-Depth Analyzing, Scripting By Example </a:t>
            </a:r>
          </a:p>
        </p:txBody>
      </p:sp>
    </p:spTree>
    <p:extLst>
      <p:ext uri="{BB962C8B-B14F-4D97-AF65-F5344CB8AC3E}">
        <p14:creationId xmlns:p14="http://schemas.microsoft.com/office/powerpoint/2010/main" val="27158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8CF0-1343-46A3-8FCE-99435C89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59560"/>
            <a:ext cx="8572500" cy="448984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 considerations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more “user-friendly” a script is, the easier it is to debug. Using white lines, comments, indentation, exit statuses for specific errors or printing various messages at different stages of the script – all of this make it easier to isolate potential issues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not too relevant for smaller scripts, but as the code gets bigger the above aspects become considerably relevant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Common analyzing tools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/>
              <a:t>Use syntax highlighting when writing code, i.e. in ‘vi’ we have “syntax on”/”syntax off”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Use “set list” in ‘vi’ to check for any forbidden characters (that can appear when you paste code for example)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When executing the script you can use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“bash -v” to display verbose output (echo all commands before executing)</a:t>
            </a:r>
          </a:p>
          <a:p>
            <a:pPr marL="514341" lvl="1" indent="-171450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“bash -x” to show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xtrace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information (useful if the script is not very long)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</a:rPr>
              <a:t>For larger scripts it is possible to debug only some sections of the code from within the script using: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</a:rPr>
              <a:t>a DEBUG trap to run a command/function before it executes each subsequent command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“set -x” before and “set +x” after the code section</a:t>
            </a:r>
          </a:p>
          <a:p>
            <a:pPr marL="171450" lvl="0" indent="-171450">
              <a:buClr>
                <a:srgbClr val="DC3C3E"/>
              </a:buClr>
              <a:buFontTx/>
              <a:buChar char="-"/>
            </a:pPr>
            <a:r>
              <a:rPr lang="en-US" sz="1200" dirty="0">
                <a:solidFill>
                  <a:srgbClr val="000000"/>
                </a:solidFill>
              </a:rPr>
              <a:t>Execute individual commands/sections of the script directly in the CLI</a:t>
            </a:r>
          </a:p>
          <a:p>
            <a:pPr marL="514341" lvl="1" indent="-171450">
              <a:buClr>
                <a:srgbClr val="DC3C3E"/>
              </a:buClr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EC6C-CEAD-4308-AB37-C18E58983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© 2018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Axway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 Regular"/>
                <a:ea typeface="+mn-ea"/>
                <a:cs typeface="+mn-cs"/>
              </a:rPr>
              <a:t>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705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SYNC_CONTAIN_GUIDS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SYNC_SLIDE_GUID" val="e622ad11-a6f7-4331-a141-c3b83771c330"/>
</p:tagLst>
</file>

<file path=ppt/theme/theme1.xml><?xml version="1.0" encoding="utf-8"?>
<a:theme xmlns:a="http://schemas.openxmlformats.org/drawingml/2006/main" name="Axway">
  <a:themeElements>
    <a:clrScheme name="Axway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C3C3E"/>
      </a:accent1>
      <a:accent2>
        <a:srgbClr val="802C56"/>
      </a:accent2>
      <a:accent3>
        <a:srgbClr val="B61A43"/>
      </a:accent3>
      <a:accent4>
        <a:srgbClr val="878A8D"/>
      </a:accent4>
      <a:accent5>
        <a:srgbClr val="D2D2D1"/>
      </a:accent5>
      <a:accent6>
        <a:srgbClr val="8BA9BA"/>
      </a:accent6>
      <a:hlink>
        <a:srgbClr val="6286BA"/>
      </a:hlink>
      <a:folHlink>
        <a:srgbClr val="4C4484"/>
      </a:folHlink>
    </a:clrScheme>
    <a:fontScheme name="Axway">
      <a:majorFont>
        <a:latin typeface="Roboto Regular"/>
        <a:ea typeface=""/>
        <a:cs typeface=""/>
      </a:majorFont>
      <a:minorFont>
        <a:latin typeface="Robot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way" id="{6F4AF3CA-2F6D-2E4F-B2C9-C16E11AAE816}" vid="{593A1C19-AA97-4146-A909-256FBF8418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Axway</Template>
  <TotalTime>0</TotalTime>
  <Words>7614</Words>
  <Application>Microsoft Office PowerPoint</Application>
  <PresentationFormat>On-screen Show (16:9)</PresentationFormat>
  <Paragraphs>630</Paragraphs>
  <Slides>41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Roboto</vt:lpstr>
      <vt:lpstr>Roboto Regular</vt:lpstr>
      <vt:lpstr>Wingdings</vt:lpstr>
      <vt:lpstr>Axway</vt:lpstr>
      <vt:lpstr>Bash Scripting Fundamentals  </vt:lpstr>
      <vt:lpstr>Before we start…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Axway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Axway Powerpoint Template</dc:title>
  <dc:subject/>
  <dc:creator>Axway Inc.</dc:creator>
  <cp:keywords/>
  <dc:description/>
  <cp:lastModifiedBy>Alexandru Nicolescu</cp:lastModifiedBy>
  <cp:revision>1689</cp:revision>
  <cp:lastPrinted>2016-10-30T22:56:54Z</cp:lastPrinted>
  <dcterms:created xsi:type="dcterms:W3CDTF">2016-09-16T17:34:24Z</dcterms:created>
  <dcterms:modified xsi:type="dcterms:W3CDTF">2022-04-28T11:32:35Z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42c6c282-56b9-4fb6-b625-fe469f1b8887</vt:lpwstr>
  </property>
  <property fmtid="{D5CDD505-2E9C-101B-9397-08002B2CF9AE}" pid="3" name="Offisync_ProviderInitializationData">
    <vt:lpwstr>https://axway.jiveon.com/</vt:lpwstr>
  </property>
  <property fmtid="{D5CDD505-2E9C-101B-9397-08002B2CF9AE}" pid="4" name="Offisync_UpdateToken">
    <vt:lpwstr>2</vt:lpwstr>
  </property>
  <property fmtid="{D5CDD505-2E9C-101B-9397-08002B2CF9AE}" pid="5" name="Jive_PrevVersionNumber">
    <vt:lpwstr>1</vt:lpwstr>
  </property>
  <property fmtid="{D5CDD505-2E9C-101B-9397-08002B2CF9AE}" pid="6" name="Jive_LatestUserAccountName">
    <vt:lpwstr>gkergunteuil@axway.com</vt:lpwstr>
  </property>
  <property fmtid="{D5CDD505-2E9C-101B-9397-08002B2CF9AE}" pid="7" name="Jive_LatestFileFullName">
    <vt:lpwstr>31a7d9d1676b410a6dbe2772eeed619f</vt:lpwstr>
  </property>
  <property fmtid="{D5CDD505-2E9C-101B-9397-08002B2CF9AE}" pid="8" name="Jive_ModifiedButNotPublished">
    <vt:lpwstr>True</vt:lpwstr>
  </property>
  <property fmtid="{D5CDD505-2E9C-101B-9397-08002B2CF9AE}" pid="9" name="Offisync_UniqueId">
    <vt:lpwstr>114052</vt:lpwstr>
  </property>
  <property fmtid="{D5CDD505-2E9C-101B-9397-08002B2CF9AE}" pid="10" name="Jive_VersionGuid_v2.5">
    <vt:lpwstr>0c301d6b198d47cd89b6253e591015f2</vt:lpwstr>
  </property>
</Properties>
</file>